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503920" y="0"/>
            <a:ext cx="3749039" cy="6858000"/>
          </a:xfrm>
          <a:prstGeom prst="rtTriangl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73152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1828800"/>
            <a:ext cx="228600" cy="2286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566928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0116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3268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E2A47"/>
                </a:solidFill>
                <a:latin typeface="Calibri"/>
              </a:rPr>
              <a:t>SAÚDE · SAAS ·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</a:rPr>
              <a:t>ClinicBridge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CAE6E8"/>
                </a:solidFill>
                <a:latin typeface="Calibri"/>
              </a:rPr>
              <a:t>Migração segura de dados para clínicas pequenas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14800"/>
            <a:ext cx="548640" cy="457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E6E8"/>
                </a:solidFill>
                <a:latin typeface="Calibri"/>
              </a:rPr>
              <a:t>Apresentação do projeto · Documentação inicial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Autor: Marco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E6E8"/>
                </a:solidFill>
                <a:latin typeface="Calibri"/>
              </a:rPr>
              <a:t>canaldosbons@gmail.com · Maio de 2026 · Versão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O problema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Clínicas pequenas trocam de software e ficam reféns dos próprios dados.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8016" cy="5943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68580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D3D"/>
                </a:solidFill>
                <a:latin typeface="Calibri"/>
              </a:rPr>
              <a:t>Quando uma clínica decide trocar de sistema — porque o antigo ficou caro, foi descontinuado ou não atende mais — alguém precisa tirar os dados de lá.
Na prática, a secretaria passa dias copiando informação entre planilhas. É lento, dá erro e expõe dados sensíveis em arquivos soltos por e-mail e pen drive.
É uma dor pontual, urgente e cara para o cliente — exatamente o tipo de problema que cabe em um SaaS focado.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17320"/>
            <a:ext cx="4023360" cy="132588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09560" y="1645920"/>
            <a:ext cx="868680" cy="8686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4592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6459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Calibri"/>
              </a:rPr>
              <a:t>Tempo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10312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380"/>
                </a:solidFill>
                <a:latin typeface="Calibri"/>
              </a:rPr>
              <a:t>Horas (ou dias) de trabalho manual.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971800"/>
            <a:ext cx="4023360" cy="132588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3200400"/>
            <a:ext cx="868680" cy="8686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20040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2004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Calibri"/>
              </a:rPr>
              <a:t>Erro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65760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380"/>
                </a:solidFill>
                <a:latin typeface="Calibri"/>
              </a:rPr>
              <a:t>Telefone errado, paciente duplicado, agenda perdida.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526280"/>
            <a:ext cx="4023360" cy="132588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09560" y="4754880"/>
            <a:ext cx="868680" cy="8686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7548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75488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Calibri"/>
              </a:rPr>
              <a:t>Exposição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521208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B7380"/>
                </a:solidFill>
                <a:latin typeface="Calibri"/>
              </a:rPr>
              <a:t>Dados em planilha sem controle nem trilha.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380"/>
                </a:solidFill>
                <a:latin typeface="Calibri"/>
              </a:rPr>
              <a:t>ClinicBridge · Documentação Inicial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Para quem é o ClinicBridge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Foco em quem mais sente a dor e tem ciclo de venda curto.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8016" cy="5943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532120" cy="233172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09728" cy="2331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2A47"/>
                </a:solidFill>
                <a:latin typeface="Calibri"/>
              </a:rPr>
              <a:t>Clínicas pequenas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De 1 a 10 profissionais, sem equipe de TI dedicada.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532120" cy="233172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109728" cy="2331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2A47"/>
                </a:solidFill>
                <a:latin typeface="Calibri"/>
              </a:rPr>
              <a:t>Consultórios individuais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Médicos, dentistas, psicólogos, fisioterapeutas, nutricionistas.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532120" cy="233172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109728" cy="2331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2A47"/>
                </a:solidFill>
                <a:latin typeface="Calibri"/>
              </a:rPr>
              <a:t>Secretarias e gestores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Quem cuida da agenda, do cadastro e dos contatos no dia a 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23360"/>
            <a:ext cx="5532120" cy="233172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023360"/>
            <a:ext cx="109728" cy="2331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389120"/>
            <a:ext cx="4983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2A47"/>
                </a:solidFill>
                <a:latin typeface="Calibri"/>
              </a:rPr>
              <a:t>Consultores de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29200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D3D"/>
                </a:solidFill>
                <a:latin typeface="Calibri"/>
              </a:rPr>
              <a:t>Profissionais que ajudam clínicas a migrar e atendem vários clientes.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380"/>
                </a:solidFill>
                <a:latin typeface="Calibri"/>
              </a:rPr>
              <a:t>ClinicBridge · Documentação Inicial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Solução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Um fluxo guiado, do arquivo bagunçado até a exportação limpa.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8016" cy="5943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11094415" cy="36576"/>
          </a:xfrm>
          <a:prstGeom prst="rect">
            <a:avLst/>
          </a:prstGeom>
          <a:solidFill>
            <a:srgbClr val="CA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6289" y="2377440"/>
            <a:ext cx="1097280" cy="10972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6289" y="23774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2072579" cy="237744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20725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2A47"/>
                </a:solidFill>
                <a:latin typeface="Calibri"/>
              </a:rPr>
              <a:t>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59"/>
            <a:ext cx="170681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380"/>
                </a:solidFill>
                <a:latin typeface="Calibri"/>
              </a:rPr>
              <a:t>Envio do arquivo do sistema antigo (CSV/XLSX).</a:t>
            </a:r>
          </a:p>
        </p:txBody>
      </p:sp>
      <p:sp>
        <p:nvSpPr>
          <p:cNvPr id="13" name="Oval 12"/>
          <p:cNvSpPr/>
          <p:nvPr/>
        </p:nvSpPr>
        <p:spPr>
          <a:xfrm>
            <a:off x="3291748" y="2377440"/>
            <a:ext cx="1097280" cy="10972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748" y="23774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4099" y="3657600"/>
            <a:ext cx="2072579" cy="237744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4099" y="3794760"/>
            <a:ext cx="20725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2A47"/>
                </a:solidFill>
                <a:latin typeface="Calibri"/>
              </a:rPr>
              <a:t>Preview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6979" y="4251959"/>
            <a:ext cx="170681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380"/>
                </a:solidFill>
                <a:latin typeface="Calibri"/>
              </a:rPr>
              <a:t>Sistema mostra colunas e primeiras linhas.</a:t>
            </a:r>
          </a:p>
        </p:txBody>
      </p:sp>
      <p:sp>
        <p:nvSpPr>
          <p:cNvPr id="18" name="Oval 17"/>
          <p:cNvSpPr/>
          <p:nvPr/>
        </p:nvSpPr>
        <p:spPr>
          <a:xfrm>
            <a:off x="5547207" y="2377440"/>
            <a:ext cx="1097280" cy="10972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7207" y="23774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59558" y="3657600"/>
            <a:ext cx="2072579" cy="237744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9558" y="3794760"/>
            <a:ext cx="20725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2A47"/>
                </a:solidFill>
                <a:latin typeface="Calibri"/>
              </a:rPr>
              <a:t>Mapeamento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2438" y="4251959"/>
            <a:ext cx="170681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380"/>
                </a:solidFill>
                <a:latin typeface="Calibri"/>
              </a:rPr>
              <a:t>Usuário confirma o que é cada coluna.</a:t>
            </a:r>
          </a:p>
        </p:txBody>
      </p:sp>
      <p:sp>
        <p:nvSpPr>
          <p:cNvPr id="23" name="Oval 22"/>
          <p:cNvSpPr/>
          <p:nvPr/>
        </p:nvSpPr>
        <p:spPr>
          <a:xfrm>
            <a:off x="7802666" y="2377440"/>
            <a:ext cx="1097280" cy="10972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2666" y="23774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017" y="3657600"/>
            <a:ext cx="2072579" cy="237744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017" y="3794760"/>
            <a:ext cx="20725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2A47"/>
                </a:solidFill>
                <a:latin typeface="Calibri"/>
              </a:rPr>
              <a:t>Validação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7897" y="4251959"/>
            <a:ext cx="170681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380"/>
                </a:solidFill>
                <a:latin typeface="Calibri"/>
              </a:rPr>
              <a:t>Duplicados, campos quebrados e inválidos.</a:t>
            </a:r>
          </a:p>
        </p:txBody>
      </p:sp>
      <p:sp>
        <p:nvSpPr>
          <p:cNvPr id="28" name="Oval 27"/>
          <p:cNvSpPr/>
          <p:nvPr/>
        </p:nvSpPr>
        <p:spPr>
          <a:xfrm>
            <a:off x="10058125" y="2377440"/>
            <a:ext cx="1097280" cy="10972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125" y="23774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70476" y="3657600"/>
            <a:ext cx="2072579" cy="2377440"/>
          </a:xfrm>
          <a:prstGeom prst="roundRect">
            <a:avLst>
              <a:gd name="adj" fmla="val 15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70476" y="3794760"/>
            <a:ext cx="20725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2A47"/>
                </a:solidFill>
                <a:latin typeface="Calibri"/>
              </a:rPr>
              <a:t>Revisão &amp; Exportação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3356" y="4251959"/>
            <a:ext cx="170681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380"/>
                </a:solidFill>
                <a:latin typeface="Calibri"/>
              </a:rPr>
              <a:t>Correção final, CSV/XLSX limpo, relatório.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380"/>
                </a:solidFill>
                <a:latin typeface="Calibri"/>
              </a:rPr>
              <a:t>ClinicBridge · Documentação Inicial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Funcionalidades do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O que entra na primeira versão — e o que fica para depois.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8016" cy="5943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DENTRO DO MVP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2743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4864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Cadastro de usuário e clínica com aceite de termos.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Upload de CSV/XLSX com validação e preview.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Mapeamento automático de colunas, ajustável.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Validação de telefone, e-mail, CPF e data.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Detecção de duplicados e dados incompletos.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Tela de revisão e correção.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Exportação limpa em CSV, XLSX e relatório PDF.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Trilha de auditoria das ações sensíveis.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B7380"/>
                </a:solidFill>
                <a:latin typeface="Calibri"/>
              </a:rPr>
              <a:t>FORA DO MVP (POR ENQUANTO)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486400" cy="27432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4864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6B738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Prontuário clínico completo.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6B738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Diagnóstico, prescrição, laudos e exames.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6B738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Telemedicina e assinatura digital.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6B738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Faturamento e integração com convênios.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6B738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Aplicativo móvel.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6B7380"/>
                </a:solidFill>
                <a:latin typeface="Calibri"/>
              </a:rPr>
              <a:t>•  </a:t>
            </a:r>
            <a:r>
              <a:rPr sz="1350">
                <a:solidFill>
                  <a:srgbClr val="1F2D3D"/>
                </a:solidFill>
                <a:latin typeface="Calibri"/>
              </a:rPr>
              <a:t>Integração nativa (API) com outros prontuários.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380"/>
                </a:solidFill>
                <a:latin typeface="Calibri"/>
              </a:rPr>
              <a:t>ClinicBridge · Documentação Inicial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Arquitetura MVC + DAO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Separação de responsabilidades, com Service entre Controller e DAO.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8016" cy="5943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75607" y="1554480"/>
            <a:ext cx="3840480" cy="68580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9927" y="155448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View (React)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4687" y="155448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380"/>
                </a:solidFill>
                <a:latin typeface="Calibri"/>
              </a:rPr>
              <a:t>Tela: Login, Upload, Preview, Revisão, Exportação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58687" y="2240280"/>
            <a:ext cx="274320" cy="137160"/>
          </a:xfrm>
          <a:prstGeom prst="downArrow">
            <a:avLst/>
          </a:prstGeom>
          <a:solidFill>
            <a:srgbClr val="CA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75607" y="2377440"/>
            <a:ext cx="3840480" cy="685800"/>
          </a:xfrm>
          <a:prstGeom prst="roundRect">
            <a:avLst>
              <a:gd name="adj" fmla="val 2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9927" y="237744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Controller (Express)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4687" y="237744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380"/>
                </a:solidFill>
                <a:latin typeface="Calibri"/>
              </a:rPr>
              <a:t>Recebe requisição, valida, autentica, autoriza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58687" y="3063240"/>
            <a:ext cx="274320" cy="137160"/>
          </a:xfrm>
          <a:prstGeom prst="downArrow">
            <a:avLst/>
          </a:prstGeom>
          <a:solidFill>
            <a:srgbClr val="CA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75607" y="3200400"/>
            <a:ext cx="3840480" cy="685800"/>
          </a:xfrm>
          <a:prstGeom prst="roundRect">
            <a:avLst>
              <a:gd name="adj" fmla="val 25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9927" y="320040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687" y="320040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380"/>
                </a:solidFill>
                <a:latin typeface="Calibri"/>
              </a:rPr>
              <a:t>Regra de negócio: parse, normalização, duplicados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58687" y="3886200"/>
            <a:ext cx="274320" cy="137160"/>
          </a:xfrm>
          <a:prstGeom prst="downArrow">
            <a:avLst/>
          </a:prstGeom>
          <a:solidFill>
            <a:srgbClr val="CA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75607" y="4023360"/>
            <a:ext cx="3840480" cy="685800"/>
          </a:xfrm>
          <a:prstGeom prst="roundRect">
            <a:avLst>
              <a:gd name="adj" fmla="val 2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9927" y="402336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4687" y="402336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380"/>
                </a:solidFill>
                <a:latin typeface="Calibri"/>
              </a:rPr>
              <a:t>Único ponto de SQL — queries parametrizadas + tenant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58687" y="4709160"/>
            <a:ext cx="274320" cy="137160"/>
          </a:xfrm>
          <a:prstGeom prst="downArrow">
            <a:avLst/>
          </a:prstGeom>
          <a:solidFill>
            <a:srgbClr val="CA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75607" y="4846320"/>
            <a:ext cx="3840480" cy="68580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9927" y="484632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Banco (PostgreSQL)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4687" y="484632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6B7380"/>
                </a:solidFill>
                <a:latin typeface="Calibri"/>
              </a:rPr>
              <a:t>Tabelas: users, clinics, patients, migrations,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POR 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874519"/>
            <a:ext cx="2286000" cy="2743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011680"/>
            <a:ext cx="2651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•  </a:t>
            </a:r>
            <a:r>
              <a:rPr sz="1200">
                <a:solidFill>
                  <a:srgbClr val="1F2D3D"/>
                </a:solidFill>
                <a:latin typeface="Calibri"/>
              </a:rPr>
              <a:t>Manutenção fácil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•  </a:t>
            </a:r>
            <a:r>
              <a:rPr sz="1200">
                <a:solidFill>
                  <a:srgbClr val="1F2D3D"/>
                </a:solidFill>
                <a:latin typeface="Calibri"/>
              </a:rPr>
              <a:t>Testes simples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•  </a:t>
            </a:r>
            <a:r>
              <a:rPr sz="1200">
                <a:solidFill>
                  <a:srgbClr val="1F2D3D"/>
                </a:solidFill>
                <a:latin typeface="Calibri"/>
              </a:rPr>
              <a:t>Revisão de segurança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•  </a:t>
            </a:r>
            <a:r>
              <a:rPr sz="1200">
                <a:solidFill>
                  <a:srgbClr val="1F2D3D"/>
                </a:solidFill>
                <a:latin typeface="Calibri"/>
              </a:rPr>
              <a:t>Troca de banco isolada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380"/>
                </a:solidFill>
                <a:latin typeface="Calibri"/>
              </a:rPr>
              <a:t>ClinicBridge · Documentação Inicial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Modelo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PostgreSQL multi-tenant, com clinica_id em tudo que é sensível.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8016" cy="5943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697480" cy="182880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697480" cy="411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9105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Usuários (dono, secretaria, admin)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697480" cy="182880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697480" cy="411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9105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clinics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4884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Clínicas e plano contratado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2697480" cy="182880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2697480" cy="411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9105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patients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4884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Pacientes — dados administrativos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554480"/>
            <a:ext cx="2697480" cy="182880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554480"/>
            <a:ext cx="2697480" cy="411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59105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import_files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4884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Metadados dos arquivos enviados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66747" y="3566160"/>
            <a:ext cx="2697480" cy="182880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66747" y="3566160"/>
            <a:ext cx="2697480" cy="411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49627" y="360273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migrations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5347" y="416052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Cada migração com contadores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47107" y="3566160"/>
            <a:ext cx="2697480" cy="182880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47107" y="3566160"/>
            <a:ext cx="2697480" cy="411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9987" y="360273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migration_errors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5707" y="416052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Erros/avisos por linha do arquivo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27467" y="3566160"/>
            <a:ext cx="2697480" cy="182880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27467" y="3566160"/>
            <a:ext cx="2697480" cy="411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0347" y="360273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audit_logs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6067" y="416052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Trilha imutável de eventos sensíveis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380"/>
                </a:solidFill>
                <a:latin typeface="Calibri"/>
              </a:rPr>
              <a:t>Isolamento entre clínicas garantido por clinica_id em todas as queries do DAO.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380"/>
                </a:solidFill>
                <a:latin typeface="Calibri"/>
              </a:rPr>
              <a:t>ClinicBridge · Documentação Inicial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Fluxo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Visão do usuário e do backend lado a lado.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8016" cy="5943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USUÁRIO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2743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01168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Cria a conta e cadastra a clínica.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517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Sobe o arquivo do sistema antigo.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29184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Vê o preview e confirma o mapeamento.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319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Sistema valida e mostra duplicados.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57200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720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Revisa, corrige, aprova a migração.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21208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120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Baixa CSV, XLSX e relatório PDF.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BACKEND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828800"/>
            <a:ext cx="5486400" cy="2743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201168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011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0116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Auth obrigatória, sessão curta, refresh.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265176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6517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6517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Upload validado (MIME real, tamanho, hash).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329184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2918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2918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Storage privado em S3 (criptografia em repouso).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393192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931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9319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Fila assíncrona (Redis/BullMQ) para parse.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0" y="457200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5720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5720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Worker valida linha a linha; erros tabulados.</a:t>
            </a:r>
          </a:p>
        </p:txBody>
      </p:sp>
      <p:sp>
        <p:nvSpPr>
          <p:cNvPr id="44" name="Oval 43"/>
          <p:cNvSpPr/>
          <p:nvPr/>
        </p:nvSpPr>
        <p:spPr>
          <a:xfrm>
            <a:off x="6400800" y="5212080"/>
            <a:ext cx="411480" cy="4114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120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2120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F2D3D"/>
                </a:solidFill>
                <a:latin typeface="Calibri"/>
              </a:rPr>
              <a:t>Audit log gravado em cada ação sensível.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380"/>
                </a:solidFill>
                <a:latin typeface="Calibri"/>
              </a:rPr>
              <a:t>ClinicBridge · Documentação Inicial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Segurança e LGPD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Aplicada desde o desenho — CIAA, OWASP, NIST, com escopo controlado.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8016" cy="5943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749039" cy="196596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09728" cy="1965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3246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2A47"/>
                </a:solidFill>
                <a:latin typeface="Calibri"/>
              </a:rPr>
              <a:t>Autenticação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324611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argon2, sessão curta, bloqueio por tentativa, MFA opcional.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1463040"/>
            <a:ext cx="3749039" cy="196596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19" y="1463040"/>
            <a:ext cx="109728" cy="1965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691640"/>
            <a:ext cx="3246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2A47"/>
                </a:solidFill>
                <a:latin typeface="Calibri"/>
              </a:rPr>
              <a:t>Multi-tenant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240280"/>
            <a:ext cx="324611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RBAC + clinica_id em todo DAO; cross-tenant retorna 403.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38" y="1463040"/>
            <a:ext cx="3749039" cy="196596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38" y="1463040"/>
            <a:ext cx="109728" cy="1965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78" y="1691640"/>
            <a:ext cx="3246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2A47"/>
                </a:solidFill>
                <a:latin typeface="Calibri"/>
              </a:rPr>
              <a:t>Upload seguro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78" y="2240280"/>
            <a:ext cx="324611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Allowlist, MIME real, hash SHA-256, storage privado.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749039" cy="196596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109728" cy="1965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40480"/>
            <a:ext cx="3246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2A47"/>
                </a:solidFill>
                <a:latin typeface="Calibri"/>
              </a:rPr>
              <a:t>Criptografia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89120"/>
            <a:ext cx="324611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TLS em trânsito, criptografia em repouso, hash de senha.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19" y="3611880"/>
            <a:ext cx="3749039" cy="196596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19" y="3611880"/>
            <a:ext cx="109728" cy="1965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3840480"/>
            <a:ext cx="3246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2A47"/>
                </a:solidFill>
                <a:latin typeface="Calibri"/>
              </a:rPr>
              <a:t>Auditoria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389120"/>
            <a:ext cx="324611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audit_logs imutáveis, NTP, retenção ≥ 1 ano.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38" y="3611880"/>
            <a:ext cx="3749039" cy="1965960"/>
          </a:xfrm>
          <a:prstGeom prst="roundRect">
            <a:avLst>
              <a:gd name="adj" fmla="val 8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38" y="3611880"/>
            <a:ext cx="109728" cy="1965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78" y="3840480"/>
            <a:ext cx="3246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2A47"/>
                </a:solidFill>
                <a:latin typeface="Calibri"/>
              </a:rPr>
              <a:t>LGPD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78" y="4389120"/>
            <a:ext cx="324611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2D3D"/>
                </a:solidFill>
                <a:latin typeface="Calibri"/>
              </a:rPr>
              <a:t>Consentimento, exportação e exclusão sob demanda, DPO definido.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380"/>
                </a:solidFill>
                <a:latin typeface="Calibri"/>
              </a:rPr>
              <a:t>ClinicBridge · Documentação Inicial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Modelagem de ameaças — STRIDE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Roteiro do material de Software Seguro aplicado ao ClinicBridge.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8016" cy="5943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77295" cy="758952"/>
          </a:xfrm>
          <a:prstGeom prst="roundRect">
            <a:avLst>
              <a:gd name="adj" fmla="val 2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52704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270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904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E2A47"/>
                </a:solidFill>
                <a:latin typeface="Calibri"/>
              </a:rPr>
              <a:t>Spoofing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013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380"/>
                </a:solidFill>
                <a:latin typeface="Calibri"/>
              </a:rPr>
              <a:t>Fingir identidade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600200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D3D"/>
                </a:solidFill>
                <a:latin typeface="Calibri"/>
              </a:rPr>
              <a:t>argon2 · rate limit · MFA · log de tentativas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49424"/>
            <a:ext cx="11277295" cy="758952"/>
          </a:xfrm>
          <a:prstGeom prst="roundRect">
            <a:avLst>
              <a:gd name="adj" fmla="val 2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235915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591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2257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E2A47"/>
                </a:solidFill>
                <a:latin typeface="Calibri"/>
              </a:rPr>
              <a:t>Tampering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334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380"/>
                </a:solidFill>
                <a:latin typeface="Calibri"/>
              </a:rPr>
              <a:t>Alterar dado em trânsito ou repouso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432304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D3D"/>
                </a:solidFill>
                <a:latin typeface="Calibri"/>
              </a:rPr>
              <a:t>HTTPS · hash SHA-256 · transações · audit_logs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81528"/>
            <a:ext cx="11277295" cy="758952"/>
          </a:xfrm>
          <a:prstGeom prst="roundRect">
            <a:avLst>
              <a:gd name="adj" fmla="val 2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3191256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9125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1546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E2A47"/>
                </a:solidFill>
                <a:latin typeface="Calibri"/>
              </a:rPr>
              <a:t>Repudiation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46557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380"/>
                </a:solidFill>
                <a:latin typeface="Calibri"/>
              </a:rPr>
              <a:t>Negar a 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264408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D3D"/>
                </a:solidFill>
                <a:latin typeface="Calibri"/>
              </a:rPr>
              <a:t>audit_logs imutáveis · request_id · NTP · e-mail de confirmação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13632"/>
            <a:ext cx="11277295" cy="758952"/>
          </a:xfrm>
          <a:prstGeom prst="roundRect">
            <a:avLst>
              <a:gd name="adj" fmla="val 2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360" y="402336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0233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98678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E2A47"/>
                </a:solidFill>
                <a:latin typeface="Calibri"/>
              </a:rPr>
              <a:t>Information Disclosure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2976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380"/>
                </a:solidFill>
                <a:latin typeface="Calibri"/>
              </a:rPr>
              <a:t>Vazar dado sensível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096512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D3D"/>
                </a:solidFill>
                <a:latin typeface="Calibri"/>
              </a:rPr>
              <a:t>URLs assinadas · erro neutro · log sem PII · cripto em repouso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45736"/>
            <a:ext cx="11277295" cy="758952"/>
          </a:xfrm>
          <a:prstGeom prst="roundRect">
            <a:avLst>
              <a:gd name="adj" fmla="val 2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" y="4855464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85546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81888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E2A47"/>
                </a:solidFill>
                <a:latin typeface="Calibri"/>
              </a:rPr>
              <a:t>Denial of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1297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380"/>
                </a:solidFill>
                <a:latin typeface="Calibri"/>
              </a:rPr>
              <a:t>Derrubar ou abusar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928616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D3D"/>
                </a:solidFill>
                <a:latin typeface="Calibri"/>
              </a:rPr>
              <a:t>rate limit · limite de tamanho · fila com timeout · captcha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577840"/>
            <a:ext cx="11277295" cy="758952"/>
          </a:xfrm>
          <a:prstGeom prst="roundRect">
            <a:avLst>
              <a:gd name="adj" fmla="val 2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4360" y="568756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68756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6509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E2A47"/>
                </a:solidFill>
                <a:latin typeface="Calibri"/>
              </a:rPr>
              <a:t>Elevation of Privilege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59618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380"/>
                </a:solidFill>
                <a:latin typeface="Calibri"/>
              </a:rPr>
              <a:t>Subir privilégio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760720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F2D3D"/>
                </a:solidFill>
                <a:latin typeface="Calibri"/>
              </a:rPr>
              <a:t>RBAC + tenant · teste cross-tenant · menor privilégio no banco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380"/>
                </a:solidFill>
                <a:latin typeface="Calibri"/>
              </a:rPr>
              <a:t>ClinicBridge · Documentação Inicial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Modelo de monetização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Começar pelo avulso (ciclo curto), evoluir para recorrência.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8016" cy="5943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2267" y="1554480"/>
            <a:ext cx="3703320" cy="4206240"/>
          </a:xfrm>
          <a:prstGeom prst="roundRect">
            <a:avLst>
              <a:gd name="adj" fmla="val 6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2267" y="1554480"/>
            <a:ext cx="3703320" cy="11430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267" y="1719072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Avulso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267" y="2194560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R$ 199 – 799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267" y="283464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28090"/>
                </a:solidFill>
                <a:latin typeface="Calibri"/>
              </a:rPr>
              <a:t>FOCO DO LANÇAMENTO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3337560"/>
            <a:ext cx="2971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28090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Pago por migração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28090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Volume de pacientes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28090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Sem mensalidade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28090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Inclui relatório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4187" y="1554480"/>
            <a:ext cx="3703320" cy="4206240"/>
          </a:xfrm>
          <a:prstGeom prst="roundRect">
            <a:avLst>
              <a:gd name="adj" fmla="val 6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44187" y="1554480"/>
            <a:ext cx="3703320" cy="11430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4187" y="1719072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Recorrente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4187" y="2194560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R$/mês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4187" y="283464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A896"/>
                </a:solidFill>
                <a:latin typeface="Calibri"/>
              </a:rPr>
              <a:t>CRESCIMENTO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9947" y="3337560"/>
            <a:ext cx="2971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0A896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Histórico mantido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0A896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Backup criptografado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0A896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Novas migrações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0A896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Acesso a integrações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6107" y="1554480"/>
            <a:ext cx="3703320" cy="4206240"/>
          </a:xfrm>
          <a:prstGeom prst="roundRect">
            <a:avLst>
              <a:gd name="adj" fmla="val 6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76107" y="1554480"/>
            <a:ext cx="3703320" cy="1143000"/>
          </a:xfrm>
          <a:prstGeom prst="roundRect">
            <a:avLst>
              <a:gd name="adj" fmla="val 6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6107" y="1719072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Parceria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6107" y="2194560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Por 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6107" y="283464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  <a:latin typeface="Calibri"/>
              </a:rPr>
              <a:t>CANAL INDIRETO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1867" y="3337560"/>
            <a:ext cx="2971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2C39A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Consultores e revendedores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2C39A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Painel para múltiplos clientes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2C39A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Comissão de indicação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2C39A"/>
                </a:solidFill>
                <a:latin typeface="Calibri"/>
              </a:rPr>
              <a:t>•  </a:t>
            </a:r>
            <a:r>
              <a:rPr sz="1250">
                <a:solidFill>
                  <a:srgbClr val="1F2D3D"/>
                </a:solidFill>
                <a:latin typeface="Calibri"/>
              </a:rPr>
              <a:t>Suporte prioritário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380"/>
                </a:solidFill>
                <a:latin typeface="Calibri"/>
              </a:rPr>
              <a:t>ClinicBridge · Documentação Inicial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Quatro sprints até o produto vendável; pós-MVP entra refino.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8016" cy="5943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11094415" cy="36576"/>
          </a:xfrm>
          <a:prstGeom prst="rect">
            <a:avLst/>
          </a:prstGeom>
          <a:solidFill>
            <a:srgbClr val="CA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1193" y="304495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1193" y="3044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4365" y="2423160"/>
            <a:ext cx="27432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0801" y="137160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0801" y="1463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Sprint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801" y="1737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E2A47"/>
                </a:solidFill>
                <a:latin typeface="Calibri"/>
              </a:rPr>
              <a:t>MVP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" y="2011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380"/>
                </a:solidFill>
                <a:latin typeface="Calibri"/>
              </a:rPr>
              <a:t>Auth · cadastro · upload · preview</a:t>
            </a:r>
          </a:p>
        </p:txBody>
      </p:sp>
      <p:sp>
        <p:nvSpPr>
          <p:cNvPr id="15" name="Oval 14"/>
          <p:cNvSpPr/>
          <p:nvPr/>
        </p:nvSpPr>
        <p:spPr>
          <a:xfrm>
            <a:off x="3630076" y="304495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076" y="3044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63248" y="3337560"/>
            <a:ext cx="27432" cy="6858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79684" y="402336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9684" y="41148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Sprint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9684" y="43891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E2A47"/>
                </a:solidFill>
                <a:latin typeface="Calibri"/>
              </a:rPr>
              <a:t>Migração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6844" y="4663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380"/>
                </a:solidFill>
                <a:latin typeface="Calibri"/>
              </a:rPr>
              <a:t>Validação · duplicados · revisão · export</a:t>
            </a:r>
          </a:p>
        </p:txBody>
      </p:sp>
      <p:sp>
        <p:nvSpPr>
          <p:cNvPr id="22" name="Oval 21"/>
          <p:cNvSpPr/>
          <p:nvPr/>
        </p:nvSpPr>
        <p:spPr>
          <a:xfrm>
            <a:off x="5848959" y="304495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8959" y="3044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2131" y="2423160"/>
            <a:ext cx="27432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98567" y="137160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98567" y="1463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Sprint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8567" y="1737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E2A47"/>
                </a:solidFill>
                <a:latin typeface="Calibri"/>
              </a:rPr>
              <a:t>Segurança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5727" y="2011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380"/>
                </a:solidFill>
                <a:latin typeface="Calibri"/>
              </a:rPr>
              <a:t>Logs · multi-tenant · backup · hardening</a:t>
            </a:r>
          </a:p>
        </p:txBody>
      </p:sp>
      <p:sp>
        <p:nvSpPr>
          <p:cNvPr id="29" name="Oval 28"/>
          <p:cNvSpPr/>
          <p:nvPr/>
        </p:nvSpPr>
        <p:spPr>
          <a:xfrm>
            <a:off x="8067842" y="304495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7842" y="3044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01014" y="3337560"/>
            <a:ext cx="27432" cy="6858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17450" y="402336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17450" y="41148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Sprint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7450" y="43891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E2A47"/>
                </a:solidFill>
                <a:latin typeface="Calibri"/>
              </a:rPr>
              <a:t>Comercial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4610" y="4663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380"/>
                </a:solidFill>
                <a:latin typeface="Calibri"/>
              </a:rPr>
              <a:t>Landing · lead · plano pago · painel admin</a:t>
            </a:r>
          </a:p>
        </p:txBody>
      </p:sp>
      <p:sp>
        <p:nvSpPr>
          <p:cNvPr id="36" name="Oval 35"/>
          <p:cNvSpPr/>
          <p:nvPr/>
        </p:nvSpPr>
        <p:spPr>
          <a:xfrm>
            <a:off x="10286725" y="3044952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6725" y="3044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9897" y="2423160"/>
            <a:ext cx="27432" cy="822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6333" y="137160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36333" y="1463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Pós-MVP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36333" y="1737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E2A47"/>
                </a:solidFill>
                <a:latin typeface="Calibri"/>
              </a:rPr>
              <a:t>Refino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3493" y="2011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380"/>
                </a:solidFill>
                <a:latin typeface="Calibri"/>
              </a:rPr>
              <a:t>Secretárias · WhatsApp · integrações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B7380"/>
                </a:solidFill>
                <a:latin typeface="Calibri"/>
              </a:rPr>
              <a:t>Total estimado: cerca de 8 a 10 semanas até o lançamento público com cobrança ativa.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B7380"/>
                </a:solidFill>
                <a:latin typeface="Calibri"/>
              </a:rPr>
              <a:t>ClinicBridge · Documentação Inicial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6400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1645920"/>
            <a:ext cx="164592" cy="16459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5852160"/>
            <a:ext cx="274320" cy="2743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alibri"/>
              </a:rPr>
              <a:t>CONCLUSÃO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Um produto pequeno, vendável e seguro desde o desenho.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63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3657600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Escopo controlado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E6E8"/>
                </a:solidFill>
                <a:latin typeface="Calibri"/>
              </a:rPr>
              <a:t>Sem prontuário, sem prescrição — só migração e organização.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01752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63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3017520"/>
            <a:ext cx="3657600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337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Segurança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886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E6E8"/>
                </a:solidFill>
                <a:latin typeface="Calibri"/>
              </a:rPr>
              <a:t>CIAA, STRIDE, OWASP, NIST e LGPD aplicados na arquitetura.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01752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635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3017520"/>
            <a:ext cx="3657600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337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MVP em ~10 semanas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886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E6E8"/>
                </a:solidFill>
                <a:latin typeface="Calibri"/>
              </a:rPr>
              <a:t>Quatro sprints até o produto cobrável, com clientes-piloto.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E6E8"/>
                </a:solidFill>
                <a:latin typeface="Calibri"/>
              </a:rPr>
              <a:t>Próximo passo: validar a dor com 5 a 10 clínicas e abrir a lista de espera.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alibri"/>
              </a:rPr>
              <a:t>Obrigado. · canaldosbons@gmail.com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AE6E8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